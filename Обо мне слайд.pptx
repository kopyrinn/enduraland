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22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1D012E-7D06-4798-A823-2F33C2DDC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6589D9-DB55-4C7A-840B-0008D1D26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E3DC0C-0641-410B-9883-0DA86C64A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340933-EA74-47F7-815D-D5C94DD4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C50DE5-FEDD-42EA-B40A-9D0D9030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032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7F26CB-8635-40BE-A4EF-073427FD7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914BAC-564B-4724-A2F1-98A03035B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3557B7-5A40-4431-8589-7D9181563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CF9F05-0FE2-4E4C-88FD-B1E165940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833FF1-C0AE-4381-89C1-584FF2A8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244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37D60-F58F-4EA8-9F83-0478187F9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2F1306-00D7-49E1-969E-19EB1CA4A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198343-0C61-4B8D-AB47-7099298F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32C672-5B20-424B-B67D-FBBA4C1B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EA204A-D94C-4714-A664-4E2A52C0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53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892AD-429D-432B-9CD3-D4534092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AE89E-9460-4FCB-BFB6-463DCDF51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B6FB48B-A385-49F8-9736-7EF475B50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5AF0DF-DAF5-48A2-842B-B1372816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B7764A-637E-46AA-8403-8180E2B9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B13336-4834-4B15-968A-7E8896F1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22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E2A942-1755-4379-B75F-FE2FE5AC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E8576E-F7D3-4569-B631-45ECFA0FF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691B9B-1C40-4831-B329-E7B956D3D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15CC545-0979-40A6-9E9B-AAE5FADE0D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545C331-84CA-43FA-838C-60E52D772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395725A-C4E3-433B-9A01-3141A952C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A7B740B-03E9-4F51-89A2-834DFD4F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11D91F6-7F7E-4053-B3DF-01CD1645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954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274B6-A5DE-4FCA-AB33-A53CC6340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8D18EA6-A04D-48D8-8E0A-95F50E79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DBD33F1-C081-4D4D-934D-9D752CD25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038A883-8818-44A5-8517-66093826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638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FE3F927-796A-45FE-A3E7-1E0F1F15E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0073074-FB53-4C4C-9D97-C0DF3091B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7A495E-4207-43C0-998A-424747AA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150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68847-317D-4B51-B95F-FD84ECF5A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C52644-F123-4EED-A4D2-FDC660F07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E399C1-CDF3-4736-8A19-AE1205717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57179C-46FD-4308-A51C-C133DA283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24A5EC-3F4C-49F1-982D-345DACED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0C87D5-1C0B-461C-B299-44BCB15D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954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6E103-D585-4AD4-A35C-B7CFC02D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A9F153C-6591-468B-B0C3-195B618EC6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DAC1F0-7D00-4835-A2D0-930BDA5C8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69D030-D281-4F0A-941F-A3A06844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A37B35-669C-4417-B889-F633D628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4C80B9-EF55-4375-AE4F-0D2E2B85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11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B39E7-387E-4574-85AD-7C9441058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487D36-6B0B-4AA1-9A6A-2A69A9814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7DCB40-B6DC-4697-A26D-2C7338E5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DB515A-CA30-41CC-81DF-90F36223C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0D7A20-CA14-4D1D-8C32-D67F2976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78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E062B32-C3AF-454D-88B4-1C01713C70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14E53D-B00E-49F1-BC4D-1DBB36A96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958690-D48E-46BB-A193-F7DA3099B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D16BCD-9F4A-47C9-889F-CBA422FC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5C9343-5CBE-4B51-BB87-223EFD10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26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8E83D-4C9B-4277-A8E1-14533B532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2D81F7-BA46-4E61-96AF-EECBECD69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274AD4-A871-47AC-AE99-AC03F7871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68C64A-7FC6-45BA-BBEE-C36BEFA6A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99943-CFA9-4323-8FED-BFD388DE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81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F979C9-48E0-4748-BB4C-3E1B2CC8DDFE}"/>
              </a:ext>
            </a:extLst>
          </p:cNvPr>
          <p:cNvSpPr txBox="1"/>
          <p:nvPr/>
        </p:nvSpPr>
        <p:spPr>
          <a:xfrm>
            <a:off x="584718" y="317241"/>
            <a:ext cx="2276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Для страницы </a:t>
            </a:r>
            <a:r>
              <a:rPr lang="en-US" dirty="0"/>
              <a:t>Endura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EEB990E-9977-4B0A-991B-F534A472F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31" y="961053"/>
            <a:ext cx="3936758" cy="58969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90131B-25F2-4F17-B18E-88465C0EAF4B}"/>
              </a:ext>
            </a:extLst>
          </p:cNvPr>
          <p:cNvSpPr txBox="1"/>
          <p:nvPr/>
        </p:nvSpPr>
        <p:spPr>
          <a:xfrm>
            <a:off x="5069633" y="802662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 Narrow" panose="020B0606020202030204" pitchFamily="34" charset="0"/>
              </a:rPr>
              <a:t>Dauren Aitkenov</a:t>
            </a:r>
            <a:br>
              <a:rPr lang="ru-RU" dirty="0">
                <a:latin typeface="Arial Narrow" panose="020B0606020202030204" pitchFamily="34" charset="0"/>
              </a:rPr>
            </a:br>
            <a:r>
              <a:rPr lang="ru-RU" dirty="0" err="1">
                <a:latin typeface="Arial Narrow" panose="020B0606020202030204" pitchFamily="34" charset="0"/>
              </a:rPr>
              <a:t>Investor</a:t>
            </a:r>
            <a:r>
              <a:rPr lang="ru-RU" dirty="0">
                <a:latin typeface="Arial Narrow" panose="020B0606020202030204" pitchFamily="34" charset="0"/>
              </a:rPr>
              <a:t> | Business </a:t>
            </a:r>
            <a:r>
              <a:rPr lang="ru-RU" dirty="0" err="1">
                <a:latin typeface="Arial Narrow" panose="020B0606020202030204" pitchFamily="34" charset="0"/>
              </a:rPr>
              <a:t>Analyst</a:t>
            </a:r>
            <a:r>
              <a:rPr lang="ru-RU" dirty="0">
                <a:latin typeface="Arial Narrow" panose="020B0606020202030204" pitchFamily="34" charset="0"/>
              </a:rPr>
              <a:t> | </a:t>
            </a:r>
            <a:r>
              <a:rPr lang="ru-RU" dirty="0" err="1">
                <a:latin typeface="Arial Narrow" panose="020B0606020202030204" pitchFamily="34" charset="0"/>
              </a:rPr>
              <a:t>Founder</a:t>
            </a:r>
            <a:r>
              <a:rPr lang="ru-RU" dirty="0">
                <a:latin typeface="Arial Narrow" panose="020B0606020202030204" pitchFamily="34" charset="0"/>
              </a:rPr>
              <a:t> </a:t>
            </a:r>
            <a:r>
              <a:rPr lang="ru-RU" dirty="0" err="1">
                <a:latin typeface="Arial Narrow" panose="020B0606020202030204" pitchFamily="34" charset="0"/>
              </a:rPr>
              <a:t>of</a:t>
            </a:r>
            <a:r>
              <a:rPr lang="ru-RU" dirty="0">
                <a:latin typeface="Arial Narrow" panose="020B0606020202030204" pitchFamily="34" charset="0"/>
              </a:rPr>
              <a:t> </a:t>
            </a:r>
            <a:r>
              <a:rPr lang="ru-RU" dirty="0" err="1">
                <a:latin typeface="Arial Narrow" panose="020B0606020202030204" pitchFamily="34" charset="0"/>
              </a:rPr>
              <a:t>Endura</a:t>
            </a:r>
            <a:endParaRPr lang="ru-RU" dirty="0">
              <a:latin typeface="Arial Narrow" panose="020B0606020202030204" pitchFamily="34" charset="0"/>
            </a:endParaRPr>
          </a:p>
          <a:p>
            <a:endParaRPr lang="ru-RU" dirty="0">
              <a:latin typeface="Arial Narrow" panose="020B0606020202030204" pitchFamily="34" charset="0"/>
            </a:endParaRPr>
          </a:p>
          <a:p>
            <a:r>
              <a:rPr lang="ru-RU" dirty="0">
                <a:latin typeface="Arial Narrow" panose="020B0606020202030204" pitchFamily="34" charset="0"/>
              </a:rPr>
              <a:t>Я инвестор и аналитик, который специализируется на поиске недооценённых компаний с долгосрочным потенциалом роста.</a:t>
            </a:r>
          </a:p>
          <a:p>
            <a:endParaRPr lang="ru-RU" dirty="0">
              <a:latin typeface="Arial Narrow" panose="020B0606020202030204" pitchFamily="34" charset="0"/>
            </a:endParaRPr>
          </a:p>
          <a:p>
            <a:r>
              <a:rPr lang="ru-RU" dirty="0">
                <a:latin typeface="Arial Narrow" panose="020B0606020202030204" pitchFamily="34" charset="0"/>
              </a:rPr>
              <a:t>Мой подход сформирован под влиянием философии </a:t>
            </a:r>
            <a:r>
              <a:rPr lang="ru-RU" b="1" dirty="0" err="1">
                <a:latin typeface="Arial Narrow" panose="020B0606020202030204" pitchFamily="34" charset="0"/>
              </a:rPr>
              <a:t>Warren</a:t>
            </a:r>
            <a:r>
              <a:rPr lang="ru-RU" b="1" dirty="0">
                <a:latin typeface="Arial Narrow" panose="020B0606020202030204" pitchFamily="34" charset="0"/>
              </a:rPr>
              <a:t> </a:t>
            </a:r>
            <a:r>
              <a:rPr lang="ru-RU" b="1" dirty="0" err="1">
                <a:latin typeface="Arial Narrow" panose="020B0606020202030204" pitchFamily="34" charset="0"/>
              </a:rPr>
              <a:t>Buffett</a:t>
            </a:r>
            <a:r>
              <a:rPr lang="ru-RU" b="1" dirty="0">
                <a:latin typeface="Arial Narrow" panose="020B0606020202030204" pitchFamily="34" charset="0"/>
              </a:rPr>
              <a:t> и </a:t>
            </a:r>
            <a:r>
              <a:rPr lang="ru-RU" b="1" dirty="0" err="1">
                <a:latin typeface="Arial Narrow" panose="020B0606020202030204" pitchFamily="34" charset="0"/>
              </a:rPr>
              <a:t>Charlie</a:t>
            </a:r>
            <a:r>
              <a:rPr lang="ru-RU" b="1" dirty="0">
                <a:latin typeface="Arial Narrow" panose="020B0606020202030204" pitchFamily="34" charset="0"/>
              </a:rPr>
              <a:t> </a:t>
            </a:r>
            <a:r>
              <a:rPr lang="ru-RU" b="1" dirty="0" err="1">
                <a:latin typeface="Arial Narrow" panose="020B0606020202030204" pitchFamily="34" charset="0"/>
              </a:rPr>
              <a:t>Munger</a:t>
            </a:r>
            <a:r>
              <a:rPr lang="ru-RU" dirty="0">
                <a:latin typeface="Arial Narrow" panose="020B0606020202030204" pitchFamily="34" charset="0"/>
              </a:rPr>
              <a:t> - с фокусом на: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глубокое понимание бизнеса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долгосрочное владение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дисциплину и управление рисками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Arial Narrow" panose="020B0606020202030204" pitchFamily="34" charset="0"/>
            </a:endParaRPr>
          </a:p>
          <a:p>
            <a:r>
              <a:rPr lang="ru-RU" dirty="0">
                <a:latin typeface="Arial Narrow" panose="020B0606020202030204" pitchFamily="34" charset="0"/>
              </a:rPr>
              <a:t>У меня более 10 лет опыта в аналитике и стратегии, включая работу в крупнейшей девелоперской компании Казахстана - BI Group, где я занимался: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анализом рынков и инвестиционных проектов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разработкой стратегий развития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оценкой эффективности бизнеса и капитала </a:t>
            </a:r>
          </a:p>
          <a:p>
            <a:r>
              <a:rPr lang="ru-RU" dirty="0">
                <a:latin typeface="Arial Narrow" panose="020B0606020202030204" pitchFamily="34" charset="0"/>
              </a:rPr>
              <a:t>Параллельно я развиваю собственный инвестиционный подход, ориентированный на глобальные рынки, в первую очередь США.</a:t>
            </a:r>
          </a:p>
        </p:txBody>
      </p:sp>
    </p:spTree>
    <p:extLst>
      <p:ext uri="{BB962C8B-B14F-4D97-AF65-F5344CB8AC3E}">
        <p14:creationId xmlns:p14="http://schemas.microsoft.com/office/powerpoint/2010/main" val="99747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2C3FB3-7798-40E6-A320-E29D77DCD048}"/>
              </a:ext>
            </a:extLst>
          </p:cNvPr>
          <p:cNvSpPr txBox="1"/>
          <p:nvPr/>
        </p:nvSpPr>
        <p:spPr>
          <a:xfrm>
            <a:off x="398107" y="2663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 Narrow" panose="020B0606020202030204" pitchFamily="34" charset="0"/>
              </a:rPr>
              <a:t>2. Блок: </a:t>
            </a:r>
            <a:r>
              <a:rPr lang="ru-RU" b="1" dirty="0">
                <a:latin typeface="Arial Narrow" panose="020B0606020202030204" pitchFamily="34" charset="0"/>
              </a:rPr>
              <a:t>Моя философия инвестиций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48FAF9-EBA2-42FB-850B-726230D69438}"/>
              </a:ext>
            </a:extLst>
          </p:cNvPr>
          <p:cNvSpPr txBox="1"/>
          <p:nvPr/>
        </p:nvSpPr>
        <p:spPr>
          <a:xfrm>
            <a:off x="354563" y="80875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 Narrow" panose="020B0606020202030204" pitchFamily="34" charset="0"/>
              </a:rPr>
              <a:t>Моя философия инвестиций проста, но требует дисциплины:</a:t>
            </a:r>
          </a:p>
          <a:p>
            <a:r>
              <a:rPr lang="ru-RU" dirty="0">
                <a:latin typeface="Arial Narrow" panose="020B0606020202030204" pitchFamily="34" charset="0"/>
              </a:rPr>
              <a:t>Я не пытаюсь предсказать рынок. Я ищу отличные бизнесы по разумной цене и держу их долгосрочно.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32C12E-15C1-487E-92BD-7F635430A4DD}"/>
              </a:ext>
            </a:extLst>
          </p:cNvPr>
          <p:cNvSpPr txBox="1"/>
          <p:nvPr/>
        </p:nvSpPr>
        <p:spPr>
          <a:xfrm>
            <a:off x="398107" y="1905200"/>
            <a:ext cx="569789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latin typeface="Arial Narrow" panose="020B0606020202030204" pitchFamily="34" charset="0"/>
              </a:rPr>
              <a:t>1. Инвестирование — это покупка бизнеса</a:t>
            </a:r>
          </a:p>
          <a:p>
            <a:r>
              <a:rPr lang="ru-RU" sz="1400" dirty="0">
                <a:latin typeface="Arial Narrow" panose="020B0606020202030204" pitchFamily="34" charset="0"/>
              </a:rPr>
              <a:t>Я рассматриваю акции не как тикеры, а как доли в реальных компаниях.</a:t>
            </a:r>
          </a:p>
          <a:p>
            <a:r>
              <a:rPr lang="ru-RU" sz="1400" dirty="0">
                <a:latin typeface="Arial Narrow" panose="020B0606020202030204" pitchFamily="34" charset="0"/>
              </a:rPr>
              <a:t>Перед инвестированием я задаю себе вопросы: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Понимаю ли я, как компания зарабатывает деньги?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Есть ли у неё устойчивое конкурентное преимущество?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Смогу ли я держать этот бизнес 10+ лет?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55E268-CCB8-4526-ACBF-4FC8F7E3A650}"/>
              </a:ext>
            </a:extLst>
          </p:cNvPr>
          <p:cNvSpPr txBox="1"/>
          <p:nvPr/>
        </p:nvSpPr>
        <p:spPr>
          <a:xfrm>
            <a:off x="354563" y="346330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latin typeface="Arial Narrow" panose="020B0606020202030204" pitchFamily="34" charset="0"/>
              </a:rPr>
              <a:t>2. Фокус на качестве, а не на хайпе</a:t>
            </a:r>
          </a:p>
          <a:p>
            <a:r>
              <a:rPr lang="ru-RU" sz="1400" dirty="0">
                <a:latin typeface="Arial Narrow" panose="020B0606020202030204" pitchFamily="34" charset="0"/>
              </a:rPr>
              <a:t>Я избегаю: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краткосрочных трендов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спекулятивных историй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“горячих” акций без фундаментальной ценности </a:t>
            </a:r>
          </a:p>
          <a:p>
            <a:r>
              <a:rPr lang="ru-RU" sz="1400" dirty="0">
                <a:latin typeface="Arial Narrow" panose="020B0606020202030204" pitchFamily="34" charset="0"/>
              </a:rPr>
              <a:t>Ищу: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стабильные бизнесы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высокий ROE / ROIC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устойчивый </a:t>
            </a:r>
            <a:r>
              <a:rPr lang="ru-RU" sz="1400" dirty="0" err="1">
                <a:latin typeface="Arial Narrow" panose="020B0606020202030204" pitchFamily="34" charset="0"/>
              </a:rPr>
              <a:t>free</a:t>
            </a:r>
            <a:r>
              <a:rPr lang="ru-RU" sz="1400" dirty="0">
                <a:latin typeface="Arial Narrow" panose="020B0606020202030204" pitchFamily="34" charset="0"/>
              </a:rPr>
              <a:t> </a:t>
            </a:r>
            <a:r>
              <a:rPr lang="ru-RU" sz="1400" dirty="0" err="1">
                <a:latin typeface="Arial Narrow" panose="020B0606020202030204" pitchFamily="34" charset="0"/>
              </a:rPr>
              <a:t>cash</a:t>
            </a:r>
            <a:r>
              <a:rPr lang="ru-RU" sz="1400" dirty="0">
                <a:latin typeface="Arial Narrow" panose="020B0606020202030204" pitchFamily="34" charset="0"/>
              </a:rPr>
              <a:t> </a:t>
            </a:r>
            <a:r>
              <a:rPr lang="ru-RU" sz="1400" dirty="0" err="1">
                <a:latin typeface="Arial Narrow" panose="020B0606020202030204" pitchFamily="34" charset="0"/>
              </a:rPr>
              <a:t>flow</a:t>
            </a:r>
            <a:endParaRPr lang="ru-RU" sz="1400" dirty="0">
              <a:latin typeface="Arial Narrow" panose="020B0606020202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65D7D-B72B-4361-A29B-F86DCBDC7C2F}"/>
              </a:ext>
            </a:extLst>
          </p:cNvPr>
          <p:cNvSpPr txBox="1"/>
          <p:nvPr/>
        </p:nvSpPr>
        <p:spPr>
          <a:xfrm>
            <a:off x="354563" y="5562397"/>
            <a:ext cx="51878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latin typeface="Arial Narrow" panose="020B0606020202030204" pitchFamily="34" charset="0"/>
              </a:rPr>
              <a:t>3. Долгосрочное мышление</a:t>
            </a:r>
          </a:p>
          <a:p>
            <a:r>
              <a:rPr lang="ru-RU" sz="1400" dirty="0">
                <a:latin typeface="Arial Narrow" panose="020B0606020202030204" pitchFamily="34" charset="0"/>
              </a:rPr>
              <a:t>Большие деньги зарабатываются не в трейдинге, а 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времени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err="1">
                <a:latin typeface="Arial Narrow" panose="020B0606020202030204" pitchFamily="34" charset="0"/>
              </a:rPr>
              <a:t>компаундинге</a:t>
            </a:r>
            <a:r>
              <a:rPr lang="ru-RU" sz="1400" dirty="0">
                <a:latin typeface="Arial Narrow" panose="020B0606020202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терпении </a:t>
            </a:r>
          </a:p>
          <a:p>
            <a:r>
              <a:rPr lang="ru-RU" sz="1400" dirty="0">
                <a:latin typeface="Arial Narrow" panose="020B0606020202030204" pitchFamily="34" charset="0"/>
              </a:rPr>
              <a:t>Мой горизонт инвестирования: </a:t>
            </a:r>
            <a:r>
              <a:rPr lang="ru-RU" sz="1400" b="1" dirty="0">
                <a:latin typeface="Arial Narrow" panose="020B0606020202030204" pitchFamily="34" charset="0"/>
              </a:rPr>
              <a:t>2-5 лет и более</a:t>
            </a:r>
            <a:r>
              <a:rPr lang="ru-RU" sz="1400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6AE1CD-3BF8-4622-9162-F2CEA47CD0FD}"/>
              </a:ext>
            </a:extLst>
          </p:cNvPr>
          <p:cNvSpPr txBox="1"/>
          <p:nvPr/>
        </p:nvSpPr>
        <p:spPr>
          <a:xfrm>
            <a:off x="6494107" y="635646"/>
            <a:ext cx="47275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latin typeface="Arial Narrow" panose="020B0606020202030204" pitchFamily="34" charset="0"/>
              </a:rPr>
              <a:t>4. Дисциплина важнее интеллекта</a:t>
            </a:r>
          </a:p>
          <a:p>
            <a:r>
              <a:rPr lang="ru-RU" sz="1400" dirty="0">
                <a:latin typeface="Arial Narrow" panose="020B0606020202030204" pitchFamily="34" charset="0"/>
              </a:rPr>
              <a:t>Как говорил </a:t>
            </a:r>
            <a:r>
              <a:rPr lang="ru-RU" sz="1400" dirty="0" err="1">
                <a:latin typeface="Arial Narrow" panose="020B0606020202030204" pitchFamily="34" charset="0"/>
              </a:rPr>
              <a:t>Charlie</a:t>
            </a:r>
            <a:r>
              <a:rPr lang="ru-RU" sz="1400" dirty="0">
                <a:latin typeface="Arial Narrow" panose="020B0606020202030204" pitchFamily="34" charset="0"/>
              </a:rPr>
              <a:t> </a:t>
            </a:r>
            <a:r>
              <a:rPr lang="ru-RU" sz="1400" dirty="0" err="1">
                <a:latin typeface="Arial Narrow" panose="020B0606020202030204" pitchFamily="34" charset="0"/>
              </a:rPr>
              <a:t>Munger</a:t>
            </a:r>
            <a:r>
              <a:rPr lang="ru-RU" sz="1400" dirty="0">
                <a:latin typeface="Arial Narrow" panose="020B0606020202030204" pitchFamily="34" charset="0"/>
              </a:rPr>
              <a:t>:</a:t>
            </a:r>
          </a:p>
          <a:p>
            <a:r>
              <a:rPr lang="ru-RU" sz="1400" dirty="0">
                <a:latin typeface="Arial Narrow" panose="020B0606020202030204" pitchFamily="34" charset="0"/>
              </a:rPr>
              <a:t>«Главное — не делать глупостей»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DB113C-D472-4301-A068-D55DB4E2C69A}"/>
              </a:ext>
            </a:extLst>
          </p:cNvPr>
          <p:cNvSpPr txBox="1"/>
          <p:nvPr/>
        </p:nvSpPr>
        <p:spPr>
          <a:xfrm>
            <a:off x="6494107" y="1329844"/>
            <a:ext cx="42049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Arial Narrow" panose="020B0606020202030204" pitchFamily="34" charset="0"/>
              </a:rPr>
              <a:t>Я строю процесс так, чтобы: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избегать крупных ошибок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не поддаваться эмоциям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не принимать импульсивные решения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3909AF-9978-4D9A-91DF-9B81E6152E3A}"/>
              </a:ext>
            </a:extLst>
          </p:cNvPr>
          <p:cNvSpPr txBox="1"/>
          <p:nvPr/>
        </p:nvSpPr>
        <p:spPr>
          <a:xfrm>
            <a:off x="6568751" y="2379030"/>
            <a:ext cx="390019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latin typeface="Arial Narrow" panose="020B0606020202030204" pitchFamily="34" charset="0"/>
              </a:rPr>
              <a:t>5. Управление риском</a:t>
            </a:r>
          </a:p>
          <a:p>
            <a:r>
              <a:rPr lang="ru-RU" sz="1400" dirty="0">
                <a:latin typeface="Arial Narrow" panose="020B0606020202030204" pitchFamily="34" charset="0"/>
              </a:rPr>
              <a:t>Я не гонюсь за максимальной доходностью.</a:t>
            </a:r>
            <a:br>
              <a:rPr lang="ru-RU" sz="1400" dirty="0">
                <a:latin typeface="Arial Narrow" panose="020B0606020202030204" pitchFamily="34" charset="0"/>
              </a:rPr>
            </a:br>
            <a:r>
              <a:rPr lang="ru-RU" sz="1400" dirty="0">
                <a:latin typeface="Arial Narrow" panose="020B0606020202030204" pitchFamily="34" charset="0"/>
              </a:rPr>
              <a:t>Я фокусируюсь на </a:t>
            </a:r>
            <a:r>
              <a:rPr lang="ru-RU" sz="1400" b="1" dirty="0">
                <a:latin typeface="Arial Narrow" panose="020B0606020202030204" pitchFamily="34" charset="0"/>
              </a:rPr>
              <a:t>сохранении капитала</a:t>
            </a:r>
            <a:r>
              <a:rPr lang="ru-RU" sz="1400" dirty="0">
                <a:latin typeface="Arial Narrow" panose="020B0606020202030204" pitchFamily="34" charset="0"/>
              </a:rPr>
              <a:t>.</a:t>
            </a:r>
          </a:p>
          <a:p>
            <a:r>
              <a:rPr lang="ru-RU" sz="1400" dirty="0">
                <a:latin typeface="Arial Narrow" panose="020B0606020202030204" pitchFamily="34" charset="0"/>
              </a:rPr>
              <a:t>Основные принципы: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не инвестировать в непонятные бизнесы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избегать чрезмерного долга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 Narrow" panose="020B0606020202030204" pitchFamily="34" charset="0"/>
              </a:rPr>
              <a:t>не концентрироваться в одной идее без уверенности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E95218-1B26-46A4-8D51-F532F509817B}"/>
              </a:ext>
            </a:extLst>
          </p:cNvPr>
          <p:cNvSpPr txBox="1"/>
          <p:nvPr/>
        </p:nvSpPr>
        <p:spPr>
          <a:xfrm>
            <a:off x="6568751" y="4350422"/>
            <a:ext cx="43853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latin typeface="Arial Narrow" panose="020B0606020202030204" pitchFamily="34" charset="0"/>
              </a:rPr>
              <a:t>6. Недооценка + рост</a:t>
            </a:r>
          </a:p>
          <a:p>
            <a:r>
              <a:rPr lang="ru-RU" sz="1400" dirty="0">
                <a:latin typeface="Arial Narrow" panose="020B0606020202030204" pitchFamily="34" charset="0"/>
              </a:rPr>
              <a:t>Я ищу комбинацию: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 err="1">
                <a:latin typeface="Arial Narrow" panose="020B0606020202030204" pitchFamily="34" charset="0"/>
              </a:rPr>
              <a:t>undervalued</a:t>
            </a:r>
            <a:r>
              <a:rPr lang="ru-RU" sz="1400" b="1" dirty="0">
                <a:latin typeface="Arial Narrow" panose="020B0606020202030204" pitchFamily="34" charset="0"/>
              </a:rPr>
              <a:t> сегодня</a:t>
            </a:r>
            <a:r>
              <a:rPr lang="ru-RU" sz="1400" dirty="0">
                <a:latin typeface="Arial Narrow" panose="020B060602020203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 err="1">
                <a:latin typeface="Arial Narrow" panose="020B0606020202030204" pitchFamily="34" charset="0"/>
              </a:rPr>
              <a:t>growth</a:t>
            </a:r>
            <a:r>
              <a:rPr lang="ru-RU" sz="1400" b="1" dirty="0">
                <a:latin typeface="Arial Narrow" panose="020B0606020202030204" pitchFamily="34" charset="0"/>
              </a:rPr>
              <a:t> завтра</a:t>
            </a:r>
            <a:r>
              <a:rPr lang="ru-RU" sz="1400" dirty="0">
                <a:latin typeface="Arial Narrow" panose="020B0606020202030204" pitchFamily="34" charset="0"/>
              </a:rPr>
              <a:t> </a:t>
            </a:r>
          </a:p>
          <a:p>
            <a:r>
              <a:rPr lang="ru-RU" sz="1400" dirty="0">
                <a:latin typeface="Arial Narrow" panose="020B0606020202030204" pitchFamily="34" charset="0"/>
              </a:rPr>
              <a:t>Когда рынок временно недооценивает бизнес — это возможность</a:t>
            </a:r>
          </a:p>
        </p:txBody>
      </p:sp>
    </p:spTree>
    <p:extLst>
      <p:ext uri="{BB962C8B-B14F-4D97-AF65-F5344CB8AC3E}">
        <p14:creationId xmlns:p14="http://schemas.microsoft.com/office/powerpoint/2010/main" val="2777292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1F70A6-94CC-43EE-85B1-DDC8FD0D1A12}"/>
              </a:ext>
            </a:extLst>
          </p:cNvPr>
          <p:cNvSpPr txBox="1"/>
          <p:nvPr/>
        </p:nvSpPr>
        <p:spPr>
          <a:xfrm>
            <a:off x="640702" y="47082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 Narrow" panose="020B0606020202030204" pitchFamily="34" charset="0"/>
              </a:rPr>
              <a:t>Блок: Принципы 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Core </a:t>
            </a:r>
            <a:r>
              <a:rPr lang="ru-RU" b="1" dirty="0" err="1">
                <a:latin typeface="Arial Narrow" panose="020B0606020202030204" pitchFamily="34" charset="0"/>
              </a:rPr>
              <a:t>Principles</a:t>
            </a:r>
            <a:endParaRPr lang="ru-RU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Я инвестирую только в то, что понимаю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Я не гонюсь за быстрыми деньгами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Я предпочитаю качество количеству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Я мыслю как владелец бизнеса, а не как трейдер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Я принимаю, что ошибки неизбежны - но большие ошибки недопустимы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8D9D7-B8A2-4010-88D7-768D26A12B38}"/>
              </a:ext>
            </a:extLst>
          </p:cNvPr>
          <p:cNvSpPr txBox="1"/>
          <p:nvPr/>
        </p:nvSpPr>
        <p:spPr>
          <a:xfrm>
            <a:off x="566057" y="3059668"/>
            <a:ext cx="3688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5. Блок: </a:t>
            </a:r>
            <a:r>
              <a:rPr lang="ru-RU" b="1" dirty="0">
                <a:latin typeface="Arial Narrow" panose="020B0606020202030204" pitchFamily="34" charset="0"/>
              </a:rPr>
              <a:t>Для кого </a:t>
            </a:r>
            <a:r>
              <a:rPr lang="ru-RU" b="1" dirty="0" err="1">
                <a:latin typeface="Arial Narrow" panose="020B0606020202030204" pitchFamily="34" charset="0"/>
              </a:rPr>
              <a:t>Endura</a:t>
            </a:r>
            <a:endParaRPr lang="ru-RU" b="1" dirty="0">
              <a:latin typeface="Arial Narrow" panose="020B0606020202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AB2D49-0B40-4502-B3B2-B3CD4701B5C1}"/>
              </a:ext>
            </a:extLst>
          </p:cNvPr>
          <p:cNvSpPr txBox="1"/>
          <p:nvPr/>
        </p:nvSpPr>
        <p:spPr>
          <a:xfrm>
            <a:off x="597159" y="3376136"/>
            <a:ext cx="36264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Arial Narrow" panose="020B0606020202030204" pitchFamily="34" charset="0"/>
              </a:rPr>
              <a:t>Endura</a:t>
            </a:r>
            <a:r>
              <a:rPr lang="ru-RU" dirty="0">
                <a:latin typeface="Arial Narrow" panose="020B0606020202030204" pitchFamily="34" charset="0"/>
              </a:rPr>
              <a:t> — для инвесторов, которые: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думают долгосрочно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хотят понимать, куда инвестируют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не ищут “быстрых схем”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ценят дисциплину и стратегию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A99E24-22E7-4AAE-808F-59C842EE5889}"/>
              </a:ext>
            </a:extLst>
          </p:cNvPr>
          <p:cNvSpPr txBox="1"/>
          <p:nvPr/>
        </p:nvSpPr>
        <p:spPr>
          <a:xfrm>
            <a:off x="566057" y="507265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>
                <a:latin typeface="Arial Narrow" panose="020B0606020202030204" pitchFamily="34" charset="0"/>
              </a:rPr>
              <a:t>Disclaimer</a:t>
            </a:r>
            <a:endParaRPr lang="ru-RU" dirty="0">
              <a:latin typeface="Arial Narrow" panose="020B0606020202030204" pitchFamily="34" charset="0"/>
            </a:endParaRPr>
          </a:p>
          <a:p>
            <a:r>
              <a:rPr lang="ru-RU" dirty="0">
                <a:latin typeface="Arial Narrow" panose="020B0606020202030204" pitchFamily="34" charset="0"/>
              </a:rPr>
              <a:t>Инвестиции связаны с риском.</a:t>
            </a:r>
            <a:br>
              <a:rPr lang="ru-RU" dirty="0">
                <a:latin typeface="Arial Narrow" panose="020B0606020202030204" pitchFamily="34" charset="0"/>
              </a:rPr>
            </a:br>
            <a:r>
              <a:rPr lang="ru-RU" dirty="0">
                <a:latin typeface="Arial Narrow" panose="020B0606020202030204" pitchFamily="34" charset="0"/>
              </a:rPr>
              <a:t>Прошлая доходность не гарантирует будущие результаты.</a:t>
            </a:r>
            <a:br>
              <a:rPr lang="ru-RU" dirty="0">
                <a:latin typeface="Arial Narrow" panose="020B0606020202030204" pitchFamily="34" charset="0"/>
              </a:rPr>
            </a:br>
            <a:r>
              <a:rPr lang="ru-RU" dirty="0">
                <a:latin typeface="Arial Narrow" panose="020B0606020202030204" pitchFamily="34" charset="0"/>
              </a:rPr>
              <a:t>Все материалы на сайте носят информационный характер.</a:t>
            </a:r>
          </a:p>
        </p:txBody>
      </p:sp>
    </p:spTree>
    <p:extLst>
      <p:ext uri="{BB962C8B-B14F-4D97-AF65-F5344CB8AC3E}">
        <p14:creationId xmlns:p14="http://schemas.microsoft.com/office/powerpoint/2010/main" val="16445533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451</Words>
  <Application>Microsoft Office PowerPoint</Application>
  <PresentationFormat>Широкоэкранный</PresentationFormat>
  <Paragraphs>72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Arial Narrow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Айткенов Даурен</dc:creator>
  <cp:lastModifiedBy>Айткенов Даурен</cp:lastModifiedBy>
  <cp:revision>3</cp:revision>
  <dcterms:created xsi:type="dcterms:W3CDTF">2026-04-07T12:42:01Z</dcterms:created>
  <dcterms:modified xsi:type="dcterms:W3CDTF">2026-04-07T12:54:38Z</dcterms:modified>
</cp:coreProperties>
</file>